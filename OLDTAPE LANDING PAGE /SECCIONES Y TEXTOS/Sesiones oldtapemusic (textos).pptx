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2000"/>
  <p:notesSz cx="6858000" cy="12192000"/>
  <p:embeddedFontLst>
    <p:embeddedFont>
      <p:font typeface="Helvetica Neue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jYTpB3nHeJT0l8PZj09GKri73e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HelveticaNeue-italic.fntdata"/><Relationship Id="rId10" Type="http://schemas.openxmlformats.org/officeDocument/2006/relationships/font" Target="fonts/HelveticaNeue-bold.fntdata"/><Relationship Id="rId13" Type="http://customschemas.google.com/relationships/presentationmetadata" Target="metadata"/><Relationship Id="rId12" Type="http://schemas.openxmlformats.org/officeDocument/2006/relationships/font" Target="fonts/HelveticaNeue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HelveticaNeue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85800" y="594360"/>
            <a:ext cx="4754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78"/>
              </a:buClr>
              <a:buSzPts val="850"/>
              <a:buFont typeface="Helvetica Neue"/>
              <a:buNone/>
            </a:pPr>
            <a:r>
              <a:rPr b="1" i="0" lang="en-US" sz="850" u="none" cap="none" strike="noStrike">
                <a:solidFill>
                  <a:srgbClr val="1F3A7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Sesiones en oldtapemusic.com</a:t>
            </a:r>
            <a:endParaRPr b="0" i="0" sz="8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85800" y="932688"/>
            <a:ext cx="64008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600"/>
              <a:buFont typeface="Helvetica Neue"/>
              <a:buNone/>
            </a:pPr>
            <a:r>
              <a:rPr b="1" i="0" lang="en-US" sz="2600" u="none" cap="none" strike="noStrike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Arquitectura de sesiones</a:t>
            </a:r>
            <a:endParaRPr b="0" i="0" sz="2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600"/>
              <a:buFont typeface="Helvetica Neue"/>
              <a:buNone/>
            </a:pPr>
            <a:r>
              <a:rPr b="1" i="0" lang="en-US" sz="2600" u="none" cap="none" strike="noStrike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landing + CRM / ERP</a:t>
            </a:r>
            <a:endParaRPr b="0" i="0" sz="2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8" name="Google Shape;18;p1"/>
          <p:cNvCxnSpPr/>
          <p:nvPr/>
        </p:nvCxnSpPr>
        <p:spPr>
          <a:xfrm>
            <a:off x="685800" y="2331720"/>
            <a:ext cx="2148840" cy="0"/>
          </a:xfrm>
          <a:prstGeom prst="straightConnector1">
            <a:avLst/>
          </a:prstGeom>
          <a:noFill/>
          <a:ln cap="flat" cmpd="sng" w="25400">
            <a:solidFill>
              <a:srgbClr val="1F3A7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1"/>
          <p:cNvSpPr/>
          <p:nvPr/>
        </p:nvSpPr>
        <p:spPr>
          <a:xfrm>
            <a:off x="685800" y="2651760"/>
            <a:ext cx="6309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Helvetica Neue"/>
              <a:buNone/>
            </a:pPr>
            <a:r>
              <a:rPr b="0" i="0" lang="en-US" sz="1500" u="none" cap="none" strike="noStrike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Documento operativo para vaciar la información de la sección “Sesiones” en oldtapemusic.com y conectarla con el flujo comercial de PerfectFlow.</a:t>
            </a:r>
            <a:endParaRPr b="0" i="0" sz="15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589520" y="105156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Preparado para</a:t>
            </a:r>
            <a:endParaRPr b="0" i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589520" y="1417320"/>
            <a:ext cx="33375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300"/>
              <a:buFont typeface="Helvetica Neue"/>
              <a:buNone/>
            </a:pPr>
            <a:r>
              <a:rPr b="1" i="0" lang="en-US" sz="2300" u="none" cap="none" strike="noStrike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CodeFlakes</a:t>
            </a:r>
            <a:endParaRPr b="0" i="0" sz="23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300"/>
              <a:buFont typeface="Helvetica Neue"/>
              <a:buNone/>
            </a:pPr>
            <a:r>
              <a:rPr b="1" i="0" lang="en-US" sz="2300" u="none" cap="none" strike="noStrike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/ PerfectFlow</a:t>
            </a:r>
            <a:endParaRPr b="0" i="0" sz="23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589520" y="2743200"/>
            <a:ext cx="31089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Helvetica Neue"/>
              <a:buNone/>
            </a:pPr>
            <a:r>
              <a:rPr b="0" i="0" lang="en-US" sz="1500" u="none" cap="none" strike="noStrike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Landing page</a:t>
            </a:r>
            <a:endParaRPr b="0" i="0" sz="15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Helvetica Neue"/>
              <a:buNone/>
            </a:pPr>
            <a:r>
              <a:rPr b="0" i="0" lang="en-US" sz="1500" u="none" cap="none" strike="noStrike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embudo de ventas</a:t>
            </a:r>
            <a:endParaRPr b="0" i="0" sz="15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Helvetica Neue"/>
              <a:buNone/>
            </a:pPr>
            <a:r>
              <a:rPr b="0" i="0" lang="en-US" sz="1500" u="none" cap="none" strike="noStrike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agenda, pagos y seguimiento</a:t>
            </a:r>
            <a:endParaRPr b="0" i="0" sz="15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3" name="Google Shape;23;p1"/>
          <p:cNvCxnSpPr/>
          <p:nvPr/>
        </p:nvCxnSpPr>
        <p:spPr>
          <a:xfrm>
            <a:off x="7589520" y="2331720"/>
            <a:ext cx="3200400" cy="0"/>
          </a:xfrm>
          <a:prstGeom prst="straightConnector1">
            <a:avLst/>
          </a:prstGeom>
          <a:noFill/>
          <a:ln cap="flat" cmpd="sng" w="19050">
            <a:solidFill>
              <a:srgbClr val="1F3A7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1"/>
          <p:cNvCxnSpPr/>
          <p:nvPr/>
        </p:nvCxnSpPr>
        <p:spPr>
          <a:xfrm>
            <a:off x="594360" y="6199632"/>
            <a:ext cx="11000232" cy="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1"/>
          <p:cNvSpPr/>
          <p:nvPr/>
        </p:nvSpPr>
        <p:spPr>
          <a:xfrm>
            <a:off x="594360" y="6355080"/>
            <a:ext cx="4023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50"/>
              <a:buFont typeface="Helvetica Neue"/>
              <a:buNone/>
            </a:pPr>
            <a:r>
              <a:rPr b="0" i="0" lang="en-US" sz="850" u="none" cap="none" strike="noStrike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OLDTAPE / ECOSPHERE / PERFECTFLOW</a:t>
            </a:r>
            <a:endParaRPr b="0" i="0" sz="8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4892040" y="6355080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50"/>
              <a:buFont typeface="Helvetica Neue"/>
              <a:buNone/>
            </a:pPr>
            <a:r>
              <a:rPr b="0" i="0" lang="en-US" sz="850" u="none" cap="none" strike="noStrike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oldtapemusic.com</a:t>
            </a:r>
            <a:endParaRPr b="0" i="0" sz="8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11018520" y="6309360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3A78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rgbClr val="1F3A7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/>
          <p:nvPr/>
        </p:nvSpPr>
        <p:spPr>
          <a:xfrm>
            <a:off x="685800" y="502920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78"/>
              </a:buClr>
              <a:buSzPts val="850"/>
              <a:buFont typeface="Helvetica Neue"/>
              <a:buNone/>
            </a:pPr>
            <a:r>
              <a:rPr b="1" i="0" lang="en-US" sz="850" u="none" cap="none" strike="noStrike">
                <a:solidFill>
                  <a:srgbClr val="1F3A7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oldtapemusic.com</a:t>
            </a:r>
            <a:endParaRPr b="0" i="0" sz="8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85800" y="82296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500"/>
              <a:buFont typeface="Helvetica Neue"/>
              <a:buNone/>
            </a:pPr>
            <a:r>
              <a:rPr b="1" i="0" lang="en-US" sz="2500" u="none" cap="none" strike="noStrike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Sección “Sesiones”: oferta principal</a:t>
            </a:r>
            <a:endParaRPr b="0" i="0" sz="25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5" name="Google Shape;35;p2"/>
          <p:cNvCxnSpPr/>
          <p:nvPr/>
        </p:nvCxnSpPr>
        <p:spPr>
          <a:xfrm>
            <a:off x="685800" y="1490472"/>
            <a:ext cx="1188720" cy="0"/>
          </a:xfrm>
          <a:prstGeom prst="straightConnector1">
            <a:avLst/>
          </a:prstGeom>
          <a:noFill/>
          <a:ln cap="flat" cmpd="sng" w="25400">
            <a:solidFill>
              <a:srgbClr val="1F3A7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2"/>
          <p:cNvSpPr/>
          <p:nvPr/>
        </p:nvSpPr>
        <p:spPr>
          <a:xfrm>
            <a:off x="685800" y="1755648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50"/>
              <a:buFont typeface="Helvetica Neue"/>
              <a:buNone/>
            </a:pPr>
            <a:r>
              <a:rPr b="0" i="0" lang="en-US" sz="1250" u="none" cap="none" strike="noStrike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Tres niveles de acceso para que el artista elija según su momento creativo: una canción puntual, un intensivo o el proceso completo.</a:t>
            </a:r>
            <a:endParaRPr b="0" i="0" sz="12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7" name="Google Shape;37;p2"/>
          <p:cNvCxnSpPr/>
          <p:nvPr/>
        </p:nvCxnSpPr>
        <p:spPr>
          <a:xfrm>
            <a:off x="685800" y="2331720"/>
            <a:ext cx="10835640" cy="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2"/>
          <p:cNvSpPr/>
          <p:nvPr/>
        </p:nvSpPr>
        <p:spPr>
          <a:xfrm>
            <a:off x="777240" y="2578608"/>
            <a:ext cx="1920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Helvetica Neue"/>
              <a:buNone/>
            </a:pPr>
            <a:r>
              <a:rPr b="1" i="0" lang="en-US" sz="1800" u="none" cap="none" strike="noStrike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Track Session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2788920" y="2606040"/>
            <a:ext cx="1874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50"/>
              <a:buFont typeface="Helvetica Neue"/>
              <a:buNone/>
            </a:pPr>
            <a:r>
              <a:rPr b="0" i="0" lang="en-US" sz="1150" u="none" cap="none" strike="noStrike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Producción puntual</a:t>
            </a:r>
            <a:endParaRPr b="0" i="0" sz="11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074920" y="2578608"/>
            <a:ext cx="3977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 sesiones musicales, dirección de producción, mix &amp; master limitado y cupos mensuales.</a:t>
            </a:r>
            <a:endParaRPr b="0" i="0" sz="112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9372600" y="2578608"/>
            <a:ext cx="1325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3A78"/>
              </a:buClr>
              <a:buSzPts val="1500"/>
              <a:buFont typeface="Helvetica Neue"/>
              <a:buNone/>
            </a:pPr>
            <a:r>
              <a:rPr b="1" i="0" lang="en-US" sz="1500" u="none" cap="none" strike="noStrike">
                <a:solidFill>
                  <a:srgbClr val="1F3A7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$280</a:t>
            </a:r>
            <a:endParaRPr b="0" i="0" sz="15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0835640" y="2606040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60"/>
              <a:buFont typeface="Helvetica Neue"/>
              <a:buNone/>
            </a:pPr>
            <a:r>
              <a:rPr b="0" i="0" lang="en-US" sz="860" u="none" cap="none" strike="noStrike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Reservar sesión</a:t>
            </a:r>
            <a:endParaRPr b="0" i="0" sz="86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3" name="Google Shape;43;p2"/>
          <p:cNvCxnSpPr/>
          <p:nvPr/>
        </p:nvCxnSpPr>
        <p:spPr>
          <a:xfrm>
            <a:off x="685800" y="3291840"/>
            <a:ext cx="10835640" cy="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2"/>
          <p:cNvSpPr/>
          <p:nvPr/>
        </p:nvSpPr>
        <p:spPr>
          <a:xfrm>
            <a:off x="777240" y="3566160"/>
            <a:ext cx="1920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Helvetica Neue"/>
              <a:buNone/>
            </a:pPr>
            <a:r>
              <a:rPr b="1" i="0" lang="en-US" sz="1800" u="none" cap="none" strike="noStrike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Focus 4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2788920" y="3593592"/>
            <a:ext cx="1874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50"/>
              <a:buFont typeface="Helvetica Neue"/>
              <a:buNone/>
            </a:pPr>
            <a:r>
              <a:rPr b="0" i="0" lang="en-US" sz="1150" u="none" cap="none" strike="noStrike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Intensivo creativo 1:1</a:t>
            </a:r>
            <a:endParaRPr b="0" i="0" sz="11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074920" y="3566160"/>
            <a:ext cx="3977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 semanas, 4 sesiones privadas, diagnóstico, ejercicios y ruta rápida para resolver una necesidad concreta.</a:t>
            </a:r>
            <a:endParaRPr b="0" i="0" sz="112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9372600" y="3566160"/>
            <a:ext cx="1325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3A78"/>
              </a:buClr>
              <a:buSzPts val="1500"/>
              <a:buFont typeface="Helvetica Neue"/>
              <a:buNone/>
            </a:pPr>
            <a:r>
              <a:rPr b="1" i="0" lang="en-US" sz="1500" u="none" cap="none" strike="noStrike">
                <a:solidFill>
                  <a:srgbClr val="1F3A7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$480</a:t>
            </a:r>
            <a:endParaRPr b="0" i="0" sz="15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0835640" y="3593592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60"/>
              <a:buFont typeface="Helvetica Neue"/>
              <a:buNone/>
            </a:pPr>
            <a:r>
              <a:rPr b="0" i="0" lang="en-US" sz="860" u="none" cap="none" strike="noStrike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Aplicar a Focus 4</a:t>
            </a:r>
            <a:endParaRPr b="0" i="0" sz="86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9" name="Google Shape;49;p2"/>
          <p:cNvCxnSpPr/>
          <p:nvPr/>
        </p:nvCxnSpPr>
        <p:spPr>
          <a:xfrm>
            <a:off x="685800" y="4279392"/>
            <a:ext cx="10835640" cy="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" name="Google Shape;50;p2"/>
          <p:cNvSpPr/>
          <p:nvPr/>
        </p:nvSpPr>
        <p:spPr>
          <a:xfrm>
            <a:off x="777240" y="4553712"/>
            <a:ext cx="1920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78"/>
              </a:buClr>
              <a:buSzPts val="1800"/>
              <a:buFont typeface="Helvetica Neue"/>
              <a:buNone/>
            </a:pPr>
            <a:r>
              <a:rPr b="1" i="0" lang="en-US" sz="1800" u="none" cap="none" strike="noStrike">
                <a:solidFill>
                  <a:srgbClr val="1F3A7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PRO90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2788920" y="4581144"/>
            <a:ext cx="1874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50"/>
              <a:buFont typeface="Helvetica Neue"/>
              <a:buNone/>
            </a:pPr>
            <a:r>
              <a:rPr b="0" i="0" lang="en-US" sz="1150" u="none" cap="none" strike="noStrike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Acompañamiento Artístico 1:1</a:t>
            </a:r>
            <a:endParaRPr b="0" i="0" sz="11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5074920" y="4553712"/>
            <a:ext cx="3977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90 días, 12 sesiones privadas, seguimiento semanal, dirección artística, composición, producción musical y preparación de lanzamiento.</a:t>
            </a:r>
            <a:endParaRPr b="0" i="0" sz="112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9372600" y="4553712"/>
            <a:ext cx="1325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3A78"/>
              </a:buClr>
              <a:buSzPts val="1500"/>
              <a:buFont typeface="Helvetica Neue"/>
              <a:buNone/>
            </a:pPr>
            <a:r>
              <a:rPr b="1" i="0" lang="en-US" sz="1500" u="none" cap="none" strike="noStrike">
                <a:solidFill>
                  <a:srgbClr val="1F3A7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Desde $600/mes</a:t>
            </a:r>
            <a:endParaRPr b="0" i="0" sz="15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0835640" y="4581144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60"/>
              <a:buFont typeface="Helvetica Neue"/>
              <a:buNone/>
            </a:pPr>
            <a:r>
              <a:rPr b="0" i="0" lang="en-US" sz="860" u="none" cap="none" strike="noStrike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Solicitar evaluación</a:t>
            </a:r>
            <a:endParaRPr b="0" i="0" sz="86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777240" y="548640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78"/>
              </a:buClr>
              <a:buSzPts val="850"/>
              <a:buFont typeface="Helvetica Neue"/>
              <a:buNone/>
            </a:pPr>
            <a:r>
              <a:rPr b="1" i="0" lang="en-US" sz="850" u="none" cap="none" strike="noStrike">
                <a:solidFill>
                  <a:srgbClr val="1F3A7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Entrada secundaria</a:t>
            </a:r>
            <a:endParaRPr b="0" i="0" sz="8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2697480" y="5468112"/>
            <a:ext cx="8183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Masterclass grupal: cápsulas de 3 horas sobre identidad, composición, producción y autogestión. $90 por persona / lista de espera.</a:t>
            </a:r>
            <a:endParaRPr b="0" i="0" sz="11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57" name="Google Shape;57;p2"/>
          <p:cNvCxnSpPr/>
          <p:nvPr/>
        </p:nvCxnSpPr>
        <p:spPr>
          <a:xfrm>
            <a:off x="594360" y="6199632"/>
            <a:ext cx="11000232" cy="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2"/>
          <p:cNvSpPr/>
          <p:nvPr/>
        </p:nvSpPr>
        <p:spPr>
          <a:xfrm>
            <a:off x="594360" y="6355080"/>
            <a:ext cx="4023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50"/>
              <a:buFont typeface="Helvetica Neue"/>
              <a:buNone/>
            </a:pPr>
            <a:r>
              <a:rPr b="0" i="0" lang="en-US" sz="850" u="none" cap="none" strike="noStrike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OLDTAPE / ECOSPHERE / PERFECTFLOW</a:t>
            </a:r>
            <a:endParaRPr b="0" i="0" sz="8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4892040" y="6355080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50"/>
              <a:buFont typeface="Helvetica Neue"/>
              <a:buNone/>
            </a:pPr>
            <a:r>
              <a:rPr b="0" i="0" lang="en-US" sz="850" u="none" cap="none" strike="noStrike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oldtapemusic.com</a:t>
            </a:r>
            <a:endParaRPr b="0" i="0" sz="8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11018520" y="6309360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3A78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rgbClr val="1F3A7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/>
          <p:nvPr/>
        </p:nvSpPr>
        <p:spPr>
          <a:xfrm>
            <a:off x="685800" y="502920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78"/>
              </a:buClr>
              <a:buSzPts val="850"/>
              <a:buFont typeface="Helvetica Neue"/>
              <a:buNone/>
            </a:pPr>
            <a:r>
              <a:rPr b="1" i="0" lang="en-US" sz="850" u="none" cap="none" strike="noStrike">
                <a:solidFill>
                  <a:srgbClr val="1F3A7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PROGRAMA PRINCIPAL</a:t>
            </a:r>
            <a:endParaRPr b="0" i="0" sz="8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85800" y="82296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500"/>
              <a:buFont typeface="Helvetica Neue"/>
              <a:buNone/>
            </a:pPr>
            <a:r>
              <a:rPr b="1" i="0" lang="en-US" sz="2500" u="none" cap="none" strike="noStrike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 90: experiencia completa</a:t>
            </a:r>
            <a:endParaRPr b="0" i="0" sz="25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8" name="Google Shape;68;p3"/>
          <p:cNvCxnSpPr/>
          <p:nvPr/>
        </p:nvCxnSpPr>
        <p:spPr>
          <a:xfrm>
            <a:off x="685800" y="1490472"/>
            <a:ext cx="1188720" cy="0"/>
          </a:xfrm>
          <a:prstGeom prst="straightConnector1">
            <a:avLst/>
          </a:prstGeom>
          <a:noFill/>
          <a:ln cap="flat" cmpd="sng" w="25400">
            <a:solidFill>
              <a:srgbClr val="1F3A7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" name="Google Shape;69;p3"/>
          <p:cNvSpPr/>
          <p:nvPr/>
        </p:nvSpPr>
        <p:spPr>
          <a:xfrm>
            <a:off x="685800" y="1755648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50"/>
              <a:buFont typeface="Helvetica Neue"/>
              <a:buNone/>
            </a:pPr>
            <a:r>
              <a:rPr b="0" i="0" lang="en-US" sz="1250" u="none" cap="none" strike="noStrike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 comunicación debe mostrar primero el acceso mensual y luego el pago completo como una oportunidad de ahorro.</a:t>
            </a:r>
            <a:endParaRPr b="0" i="0" sz="12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85800" y="242316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50"/>
              <a:buFont typeface="Helvetica Neue"/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Desde</a:t>
            </a:r>
            <a:endParaRPr b="0" i="0" sz="10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1417320" y="233172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78"/>
              </a:buClr>
              <a:buSzPts val="2500"/>
              <a:buFont typeface="Helvetica Neue"/>
              <a:buNone/>
            </a:pPr>
            <a:r>
              <a:rPr b="1" i="0" lang="en-US" sz="2500" u="none" cap="none" strike="noStrike">
                <a:solidFill>
                  <a:srgbClr val="1F3A7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$600/mes</a:t>
            </a:r>
            <a:endParaRPr b="0" i="0" sz="25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3931920" y="2441448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Helvetica Neue"/>
              <a:buNone/>
            </a:pPr>
            <a:r>
              <a:rPr b="0" i="0" lang="en-US" sz="1150" u="none" cap="none" strike="noStrike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 cuotas mensuales de $600</a:t>
            </a:r>
            <a:endParaRPr b="0" i="0" sz="11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6675120" y="2441448"/>
            <a:ext cx="3063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Helvetica Neue"/>
              <a:buNone/>
            </a:pPr>
            <a:r>
              <a:rPr b="0" i="0" lang="en-US" sz="1150" u="none" cap="none" strike="noStrike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Pago completo: $1.600 / ahorro de $200</a:t>
            </a:r>
            <a:endParaRPr b="0" i="0" sz="11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74" name="Google Shape;74;p3"/>
          <p:cNvCxnSpPr/>
          <p:nvPr/>
        </p:nvCxnSpPr>
        <p:spPr>
          <a:xfrm>
            <a:off x="685800" y="2944368"/>
            <a:ext cx="10835640" cy="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" name="Google Shape;75;p3"/>
          <p:cNvSpPr/>
          <p:nvPr/>
        </p:nvSpPr>
        <p:spPr>
          <a:xfrm>
            <a:off x="777240" y="33375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78"/>
              </a:buClr>
              <a:buSzPts val="1050"/>
              <a:buFont typeface="Helvetica Neue"/>
              <a:buNone/>
            </a:pPr>
            <a:r>
              <a:rPr b="1" i="0" lang="en-US" sz="1050" u="none" cap="none" strike="noStrike">
                <a:solidFill>
                  <a:srgbClr val="1F3A7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Mes 1</a:t>
            </a:r>
            <a:endParaRPr b="0" i="0" sz="10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777240" y="363931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Helvetica Neue"/>
              <a:buNone/>
            </a:pPr>
            <a:r>
              <a:rPr b="1" i="0" lang="en-US" sz="1500" u="none" cap="none" strike="noStrike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Identidad + diagnóstico</a:t>
            </a:r>
            <a:endParaRPr b="0" i="0" sz="15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777240" y="4160520"/>
            <a:ext cx="137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78"/>
              </a:buClr>
              <a:buSzPts val="1050"/>
              <a:buFont typeface="Helvetica Neue"/>
              <a:buNone/>
            </a:pPr>
            <a:r>
              <a:rPr b="1" i="0" lang="en-US" sz="1050" u="none" cap="none" strike="noStrike">
                <a:solidFill>
                  <a:srgbClr val="1F3A7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</a:t>
            </a:r>
            <a:endParaRPr b="0" i="0" sz="10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1005840" y="4160520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Helvetica Neue"/>
              <a:buNone/>
            </a:pPr>
            <a:r>
              <a:rPr b="0" i="0" lang="en-US" sz="1050" u="none" cap="none" strike="noStrike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ADN creativo</a:t>
            </a:r>
            <a:endParaRPr b="0" i="0" sz="10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777240" y="4416552"/>
            <a:ext cx="137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78"/>
              </a:buClr>
              <a:buSzPts val="1050"/>
              <a:buFont typeface="Helvetica Neue"/>
              <a:buNone/>
            </a:pPr>
            <a:r>
              <a:rPr b="1" i="0" lang="en-US" sz="1050" u="none" cap="none" strike="noStrike">
                <a:solidFill>
                  <a:srgbClr val="1F3A7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</a:t>
            </a:r>
            <a:endParaRPr b="0" i="0" sz="10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005840" y="4416552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Helvetica Neue"/>
              <a:buNone/>
            </a:pPr>
            <a:r>
              <a:rPr b="0" i="0" lang="en-US" sz="1050" u="none" cap="none" strike="noStrike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repertorio</a:t>
            </a:r>
            <a:endParaRPr b="0" i="0" sz="10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777240" y="4672584"/>
            <a:ext cx="137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78"/>
              </a:buClr>
              <a:buSzPts val="1050"/>
              <a:buFont typeface="Helvetica Neue"/>
              <a:buNone/>
            </a:pPr>
            <a:r>
              <a:rPr b="1" i="0" lang="en-US" sz="1050" u="none" cap="none" strike="noStrike">
                <a:solidFill>
                  <a:srgbClr val="1F3A7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</a:t>
            </a:r>
            <a:endParaRPr b="0" i="0" sz="10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1005840" y="4672584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Helvetica Neue"/>
              <a:buNone/>
            </a:pPr>
            <a:r>
              <a:rPr b="0" i="0" lang="en-US" sz="1050" u="none" cap="none" strike="noStrike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bloqueos</a:t>
            </a:r>
            <a:endParaRPr b="0" i="0" sz="10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777240" y="4928616"/>
            <a:ext cx="137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78"/>
              </a:buClr>
              <a:buSzPts val="1050"/>
              <a:buFont typeface="Helvetica Neue"/>
              <a:buNone/>
            </a:pPr>
            <a:r>
              <a:rPr b="1" i="0" lang="en-US" sz="1050" u="none" cap="none" strike="noStrike">
                <a:solidFill>
                  <a:srgbClr val="1F3A7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</a:t>
            </a:r>
            <a:endParaRPr b="0" i="0" sz="10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005840" y="4928616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Helvetica Neue"/>
              <a:buNone/>
            </a:pPr>
            <a:r>
              <a:rPr b="0" i="0" lang="en-US" sz="1050" u="none" cap="none" strike="noStrike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ruta inicial</a:t>
            </a:r>
            <a:endParaRPr b="0" i="0" sz="10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160520" y="33375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78"/>
              </a:buClr>
              <a:buSzPts val="1050"/>
              <a:buFont typeface="Helvetica Neue"/>
              <a:buNone/>
            </a:pPr>
            <a:r>
              <a:rPr b="1" i="0" lang="en-US" sz="1050" u="none" cap="none" strike="noStrike">
                <a:solidFill>
                  <a:srgbClr val="1F3A7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Mes 2</a:t>
            </a:r>
            <a:endParaRPr b="0" i="0" sz="10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4160520" y="363931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Helvetica Neue"/>
              <a:buNone/>
            </a:pPr>
            <a:r>
              <a:rPr b="1" i="0" lang="en-US" sz="1500" u="none" cap="none" strike="noStrike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Composición + producción</a:t>
            </a:r>
            <a:endParaRPr b="0" i="0" sz="15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160520" y="4160520"/>
            <a:ext cx="137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78"/>
              </a:buClr>
              <a:buSzPts val="1050"/>
              <a:buFont typeface="Helvetica Neue"/>
              <a:buNone/>
            </a:pPr>
            <a:r>
              <a:rPr b="1" i="0" lang="en-US" sz="1050" u="none" cap="none" strike="noStrike">
                <a:solidFill>
                  <a:srgbClr val="1F3A7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</a:t>
            </a:r>
            <a:endParaRPr b="0" i="0" sz="10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389120" y="4160520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Helvetica Neue"/>
              <a:buNone/>
            </a:pPr>
            <a:r>
              <a:rPr b="0" i="0" lang="en-US" sz="1050" u="none" cap="none" strike="noStrike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estructura</a:t>
            </a:r>
            <a:endParaRPr b="0" i="0" sz="10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4160520" y="4416552"/>
            <a:ext cx="137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78"/>
              </a:buClr>
              <a:buSzPts val="1050"/>
              <a:buFont typeface="Helvetica Neue"/>
              <a:buNone/>
            </a:pPr>
            <a:r>
              <a:rPr b="1" i="0" lang="en-US" sz="1050" u="none" cap="none" strike="noStrike">
                <a:solidFill>
                  <a:srgbClr val="1F3A7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</a:t>
            </a:r>
            <a:endParaRPr b="0" i="0" sz="10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4389120" y="4416552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Helvetica Neue"/>
              <a:buNone/>
            </a:pPr>
            <a:r>
              <a:rPr b="0" i="0" lang="en-US" sz="1050" u="none" cap="none" strike="noStrike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letra</a:t>
            </a:r>
            <a:endParaRPr b="0" i="0" sz="10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4160520" y="4672584"/>
            <a:ext cx="137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78"/>
              </a:buClr>
              <a:buSzPts val="1050"/>
              <a:buFont typeface="Helvetica Neue"/>
              <a:buNone/>
            </a:pPr>
            <a:r>
              <a:rPr b="1" i="0" lang="en-US" sz="1050" u="none" cap="none" strike="noStrike">
                <a:solidFill>
                  <a:srgbClr val="1F3A7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</a:t>
            </a:r>
            <a:endParaRPr b="0" i="0" sz="10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4389120" y="4672584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Helvetica Neue"/>
              <a:buNone/>
            </a:pPr>
            <a:r>
              <a:rPr b="0" i="0" lang="en-US" sz="1050" u="none" cap="none" strike="noStrike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beat</a:t>
            </a:r>
            <a:endParaRPr b="0" i="0" sz="10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4160520" y="4928616"/>
            <a:ext cx="137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78"/>
              </a:buClr>
              <a:buSzPts val="1050"/>
              <a:buFont typeface="Helvetica Neue"/>
              <a:buNone/>
            </a:pPr>
            <a:r>
              <a:rPr b="1" i="0" lang="en-US" sz="1050" u="none" cap="none" strike="noStrike">
                <a:solidFill>
                  <a:srgbClr val="1F3A7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</a:t>
            </a:r>
            <a:endParaRPr b="0" i="0" sz="10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4389120" y="4928616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Helvetica Neue"/>
              <a:buNone/>
            </a:pPr>
            <a:r>
              <a:rPr b="0" i="0" lang="en-US" sz="1050" u="none" cap="none" strike="noStrike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grabación guía</a:t>
            </a:r>
            <a:endParaRPr b="0" i="0" sz="10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7543800" y="33375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78"/>
              </a:buClr>
              <a:buSzPts val="1050"/>
              <a:buFont typeface="Helvetica Neue"/>
              <a:buNone/>
            </a:pPr>
            <a:r>
              <a:rPr b="1" i="0" lang="en-US" sz="1050" u="none" cap="none" strike="noStrike">
                <a:solidFill>
                  <a:srgbClr val="1F3A7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Mes 3</a:t>
            </a:r>
            <a:endParaRPr b="0" i="0" sz="10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7543800" y="363931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Helvetica Neue"/>
              <a:buNone/>
            </a:pPr>
            <a:r>
              <a:rPr b="1" i="0" lang="en-US" sz="1500" u="none" cap="none" strike="noStrike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Cierre + lanzamiento</a:t>
            </a:r>
            <a:endParaRPr b="0" i="0" sz="15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7543800" y="4160520"/>
            <a:ext cx="137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78"/>
              </a:buClr>
              <a:buSzPts val="1050"/>
              <a:buFont typeface="Helvetica Neue"/>
              <a:buNone/>
            </a:pPr>
            <a:r>
              <a:rPr b="1" i="0" lang="en-US" sz="1050" u="none" cap="none" strike="noStrike">
                <a:solidFill>
                  <a:srgbClr val="1F3A7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</a:t>
            </a:r>
            <a:endParaRPr b="0" i="0" sz="10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7772400" y="4160520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Helvetica Neue"/>
              <a:buNone/>
            </a:pPr>
            <a:r>
              <a:rPr b="0" i="0" lang="en-US" sz="1050" u="none" cap="none" strike="noStrike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mezcla/master</a:t>
            </a:r>
            <a:endParaRPr b="0" i="0" sz="10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7543800" y="4416552"/>
            <a:ext cx="137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78"/>
              </a:buClr>
              <a:buSzPts val="1050"/>
              <a:buFont typeface="Helvetica Neue"/>
              <a:buNone/>
            </a:pPr>
            <a:r>
              <a:rPr b="1" i="0" lang="en-US" sz="1050" u="none" cap="none" strike="noStrike">
                <a:solidFill>
                  <a:srgbClr val="1F3A7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</a:t>
            </a:r>
            <a:endParaRPr b="0" i="0" sz="10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7772400" y="4416552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Helvetica Neue"/>
              <a:buNone/>
            </a:pPr>
            <a:r>
              <a:rPr b="0" i="0" lang="en-US" sz="1050" u="none" cap="none" strike="noStrike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metadata</a:t>
            </a:r>
            <a:endParaRPr b="0" i="0" sz="10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7543800" y="4672584"/>
            <a:ext cx="137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78"/>
              </a:buClr>
              <a:buSzPts val="1050"/>
              <a:buFont typeface="Helvetica Neue"/>
              <a:buNone/>
            </a:pPr>
            <a:r>
              <a:rPr b="1" i="0" lang="en-US" sz="1050" u="none" cap="none" strike="noStrike">
                <a:solidFill>
                  <a:srgbClr val="1F3A7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</a:t>
            </a:r>
            <a:endParaRPr b="0" i="0" sz="10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7772400" y="4672584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Helvetica Neue"/>
              <a:buNone/>
            </a:pPr>
            <a:r>
              <a:rPr b="0" i="0" lang="en-US" sz="1050" u="none" cap="none" strike="noStrike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arte</a:t>
            </a:r>
            <a:endParaRPr b="0" i="0" sz="10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7543800" y="4928616"/>
            <a:ext cx="137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78"/>
              </a:buClr>
              <a:buSzPts val="1050"/>
              <a:buFont typeface="Helvetica Neue"/>
              <a:buNone/>
            </a:pPr>
            <a:r>
              <a:rPr b="1" i="0" lang="en-US" sz="1050" u="none" cap="none" strike="noStrike">
                <a:solidFill>
                  <a:srgbClr val="1F3A7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</a:t>
            </a:r>
            <a:endParaRPr b="0" i="0" sz="10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7772400" y="4928616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Helvetica Neue"/>
              <a:buNone/>
            </a:pPr>
            <a:r>
              <a:rPr b="0" i="0" lang="en-US" sz="1050" u="none" cap="none" strike="noStrike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continuidad</a:t>
            </a:r>
            <a:endParaRPr b="0" i="0" sz="10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777240" y="544068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78"/>
              </a:buClr>
              <a:buSzPts val="850"/>
              <a:buFont typeface="Helvetica Neue"/>
              <a:buNone/>
            </a:pPr>
            <a:r>
              <a:rPr b="1" i="0" lang="en-US" sz="850" u="none" cap="none" strike="noStrike">
                <a:solidFill>
                  <a:srgbClr val="1F3A7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Incluye</a:t>
            </a:r>
            <a:endParaRPr b="0" i="0" sz="8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1874520" y="5422392"/>
            <a:ext cx="6583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 sesiones privadas + actividades entre sesiones + correo semanal + dirección artística y musical + 2-3 producciones estimadas según etapa del artista.</a:t>
            </a:r>
            <a:endParaRPr b="0" i="0" sz="11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8778240" y="5440680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78"/>
              </a:buClr>
              <a:buSzPts val="850"/>
              <a:buFont typeface="Helvetica Neue"/>
              <a:buNone/>
            </a:pPr>
            <a:r>
              <a:rPr b="1" i="0" lang="en-US" sz="850" u="none" cap="none" strike="noStrike">
                <a:solidFill>
                  <a:srgbClr val="1F3A7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Regalo digital PRO</a:t>
            </a:r>
            <a:endParaRPr b="0" i="0" sz="8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8778240" y="571500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50"/>
              <a:buFont typeface="Helvetica Neue"/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Kit de artista: plantillas, checklists y mapa de 90 días.</a:t>
            </a:r>
            <a:endParaRPr b="0" i="0" sz="10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09" name="Google Shape;109;p3"/>
          <p:cNvCxnSpPr/>
          <p:nvPr/>
        </p:nvCxnSpPr>
        <p:spPr>
          <a:xfrm>
            <a:off x="594360" y="6199632"/>
            <a:ext cx="11000232" cy="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" name="Google Shape;110;p3"/>
          <p:cNvSpPr/>
          <p:nvPr/>
        </p:nvSpPr>
        <p:spPr>
          <a:xfrm>
            <a:off x="594360" y="6355080"/>
            <a:ext cx="4023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50"/>
              <a:buFont typeface="Helvetica Neue"/>
              <a:buNone/>
            </a:pPr>
            <a:r>
              <a:rPr b="0" i="0" lang="en-US" sz="850" u="none" cap="none" strike="noStrike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OLDTAPE / ECOSPHERE / PERFECTFLOW</a:t>
            </a:r>
            <a:endParaRPr b="0" i="0" sz="8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4892040" y="6355080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50"/>
              <a:buFont typeface="Helvetica Neue"/>
              <a:buNone/>
            </a:pPr>
            <a:r>
              <a:rPr b="0" i="0" lang="en-US" sz="850" u="none" cap="none" strike="noStrike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oldtapemusic.com</a:t>
            </a:r>
            <a:endParaRPr b="0" i="0" sz="8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11018520" y="6309360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3A78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rgbClr val="1F3A7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>
            <a:off x="685800" y="502920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78"/>
              </a:buClr>
              <a:buSzPts val="850"/>
              <a:buFont typeface="Helvetica Neue"/>
              <a:buNone/>
            </a:pPr>
            <a:r>
              <a:rPr b="1" i="0" lang="en-US" sz="850" u="none" cap="none" strike="noStrike">
                <a:solidFill>
                  <a:srgbClr val="1F3A7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CRM / ERP</a:t>
            </a:r>
            <a:endParaRPr b="0" i="0" sz="8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685800" y="82296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500"/>
              <a:buFont typeface="Helvetica Neue"/>
              <a:buNone/>
            </a:pPr>
            <a:r>
              <a:rPr b="1" i="0" lang="en-US" sz="2500" u="none" cap="none" strike="noStrike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Implementación en PerfectFlow</a:t>
            </a:r>
            <a:endParaRPr b="0" i="0" sz="25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20" name="Google Shape;120;p4"/>
          <p:cNvCxnSpPr/>
          <p:nvPr/>
        </p:nvCxnSpPr>
        <p:spPr>
          <a:xfrm>
            <a:off x="685800" y="1490472"/>
            <a:ext cx="1188720" cy="0"/>
          </a:xfrm>
          <a:prstGeom prst="straightConnector1">
            <a:avLst/>
          </a:prstGeom>
          <a:noFill/>
          <a:ln cap="flat" cmpd="sng" w="25400">
            <a:solidFill>
              <a:srgbClr val="1F3A7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p4"/>
          <p:cNvSpPr/>
          <p:nvPr/>
        </p:nvSpPr>
        <p:spPr>
          <a:xfrm>
            <a:off x="685800" y="1755648"/>
            <a:ext cx="9692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50"/>
              <a:buFont typeface="Helvetica Neue"/>
              <a:buNone/>
            </a:pPr>
            <a:r>
              <a:rPr b="0" i="0" lang="en-US" sz="1250" u="none" cap="none" strike="noStrike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 landing debe vender; PerfectFlow debe ordenar, agendar, cobrar y acompañar el proceso sin depender de la memoria o del trabajo manual.</a:t>
            </a:r>
            <a:endParaRPr b="0" i="0" sz="12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777240" y="242316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Embudo recomendado</a:t>
            </a:r>
            <a:endParaRPr b="0" i="0" sz="13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777240" y="2770632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20"/>
              <a:buFont typeface="Helvetica Neue"/>
              <a:buNone/>
            </a:pPr>
            <a:r>
              <a:rPr b="0" i="0" lang="en-US" sz="1320" u="none" cap="none" strike="noStrike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Visitante → solicitud → evaluación → modalidad recomendada → pago → onboarding → programa activo → cierre → testimonio → siguiente oferta</a:t>
            </a:r>
            <a:endParaRPr b="0" i="0" sz="132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24" name="Google Shape;124;p4"/>
          <p:cNvCxnSpPr/>
          <p:nvPr/>
        </p:nvCxnSpPr>
        <p:spPr>
          <a:xfrm>
            <a:off x="685800" y="3429000"/>
            <a:ext cx="10835640" cy="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" name="Google Shape;125;p4"/>
          <p:cNvSpPr/>
          <p:nvPr/>
        </p:nvSpPr>
        <p:spPr>
          <a:xfrm>
            <a:off x="777240" y="3822192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PerfectFlow debe gestionar</a:t>
            </a:r>
            <a:endParaRPr b="0" i="0" sz="13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777240" y="4169664"/>
            <a:ext cx="9966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20"/>
              <a:buFont typeface="Helvetica Neue"/>
              <a:buNone/>
            </a:pPr>
            <a:r>
              <a:rPr b="0" i="0" lang="en-US" sz="1220" u="none" cap="none" strike="noStrike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formularios · agenda · pagos · recordatorios · correos semanales · historial del participante · entregables · listas de espera · renovaciones · testimonios</a:t>
            </a:r>
            <a:endParaRPr b="0" i="0" sz="122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777240" y="501091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78"/>
              </a:buClr>
              <a:buSzPts val="850"/>
              <a:buFont typeface="Helvetica Neue"/>
              <a:buNone/>
            </a:pPr>
            <a:r>
              <a:rPr b="1" i="0" lang="en-US" sz="850" u="none" cap="none" strike="noStrike">
                <a:solidFill>
                  <a:srgbClr val="1F3A7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CTA por oferta</a:t>
            </a:r>
            <a:endParaRPr b="0" i="0" sz="8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2240280" y="4983480"/>
            <a:ext cx="8458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Track Session: Reservar sesión · Focus 4: Aplicar al intensivo · PRO90: Solicitar evaluación · Masterclass: Lista de espera</a:t>
            </a:r>
            <a:endParaRPr b="0" i="0" sz="112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777240" y="5623560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78"/>
              </a:buClr>
              <a:buSzPts val="850"/>
              <a:buFont typeface="Helvetica Neue"/>
              <a:buNone/>
            </a:pPr>
            <a:r>
              <a:rPr b="1" i="0" lang="en-US" sz="850" u="none" cap="none" strike="noStrike">
                <a:solidFill>
                  <a:srgbClr val="1F3A7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Medir primeros 90 días</a:t>
            </a:r>
            <a:endParaRPr b="0" i="0" sz="8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3063240" y="5596128"/>
            <a:ext cx="8001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80"/>
              <a:buFont typeface="Helvetica Neue"/>
              <a:buNone/>
            </a:pPr>
            <a:r>
              <a:rPr b="0" i="0" lang="en-US" sz="1080" u="none" cap="none" strike="noStrike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solicitudes · entrevistas · conversiones · facturación · horas invertidas · entregables · satisfacción · testimonios · capacidad operativa real</a:t>
            </a:r>
            <a:endParaRPr b="0" i="0" sz="108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31" name="Google Shape;131;p4"/>
          <p:cNvCxnSpPr/>
          <p:nvPr/>
        </p:nvCxnSpPr>
        <p:spPr>
          <a:xfrm>
            <a:off x="594360" y="6199632"/>
            <a:ext cx="11000232" cy="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" name="Google Shape;132;p4"/>
          <p:cNvSpPr/>
          <p:nvPr/>
        </p:nvSpPr>
        <p:spPr>
          <a:xfrm>
            <a:off x="594360" y="6355080"/>
            <a:ext cx="4023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50"/>
              <a:buFont typeface="Helvetica Neue"/>
              <a:buNone/>
            </a:pPr>
            <a:r>
              <a:rPr b="0" i="0" lang="en-US" sz="850" u="none" cap="none" strike="noStrike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OLDTAPE / ECOSPHERE / PERFECTFLOW</a:t>
            </a:r>
            <a:endParaRPr b="0" i="0" sz="8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4892040" y="6355080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50"/>
              <a:buFont typeface="Helvetica Neue"/>
              <a:buNone/>
            </a:pPr>
            <a:r>
              <a:rPr b="0" i="0" lang="en-US" sz="850" u="none" cap="none" strike="noStrike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oldtapemusic.com</a:t>
            </a:r>
            <a:endParaRPr b="0" i="0" sz="8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11018520" y="6309360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3A78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rgbClr val="1F3A7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2026-08-10T19:02:27Z</dcterms:created>
  <dc:creator>Oldtape / Ecosphere</dc:creator>
</cp:coreProperties>
</file>